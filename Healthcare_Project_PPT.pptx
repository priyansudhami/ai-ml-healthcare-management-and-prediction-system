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1" r:id="rId1"/>
  </p:sldMasterIdLst>
  <p:sldIdLst>
    <p:sldId id="256" r:id="rId2"/>
    <p:sldId id="257" r:id="rId3"/>
    <p:sldId id="258" r:id="rId4"/>
    <p:sldId id="259" r:id="rId5"/>
    <p:sldId id="263" r:id="rId6"/>
    <p:sldId id="260" r:id="rId7"/>
    <p:sldId id="261" r:id="rId8"/>
    <p:sldId id="262"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7" d="100"/>
          <a:sy n="107" d="100"/>
        </p:scale>
        <p:origin x="1734"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35967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51587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72450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26480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7874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71970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677677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715727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58158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82769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67212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08236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5985758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40466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19889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41818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5/4/2026</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72252593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AI/ML Healthcare System</a:t>
            </a:r>
            <a:r>
              <a:rPr lang="en-US" dirty="0"/>
              <a:t> And Prediction System  </a:t>
            </a:r>
            <a:endParaRPr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US" sz="3000" dirty="0">
                <a:latin typeface="Times New Roman" panose="02020603050405020304" pitchFamily="18" charset="0"/>
                <a:cs typeface="Times New Roman" panose="02020603050405020304" pitchFamily="18" charset="0"/>
              </a:rPr>
              <a:t>🩺 Bridging the gap between symptoms and accurate diagnosis through real-time AI-powered healthcare prediction and drug safety system.</a:t>
            </a:r>
          </a:p>
          <a:p>
            <a:pPr marL="0" indent="0" algn="r">
              <a:buNone/>
            </a:pPr>
            <a:endParaRPr lang="en-IN" dirty="0"/>
          </a:p>
          <a:p>
            <a:pPr marL="0" indent="0" algn="r">
              <a:buNone/>
            </a:pPr>
            <a:endParaRPr lang="en-IN" dirty="0"/>
          </a:p>
          <a:p>
            <a:pPr marL="0" indent="0" algn="r">
              <a:buNone/>
            </a:pPr>
            <a:endParaRPr lang="en-IN" dirty="0"/>
          </a:p>
          <a:p>
            <a:pPr marL="0" indent="0" algn="r">
              <a:buNone/>
            </a:pPr>
            <a:r>
              <a:rPr dirty="0"/>
              <a:t>Priyansu Dhami</a:t>
            </a:r>
          </a:p>
          <a:p>
            <a:pPr marL="0" indent="0" algn="r">
              <a:buNone/>
            </a:pPr>
            <a:r>
              <a:rPr dirty="0" err="1"/>
              <a:t>B.Tech</a:t>
            </a:r>
            <a:r>
              <a:rPr dirty="0"/>
              <a:t> CSE</a:t>
            </a:r>
            <a:endParaRPr lang="en-IN" dirty="0"/>
          </a:p>
          <a:p>
            <a:pPr marL="0" indent="0" algn="r">
              <a:buNone/>
            </a:pPr>
            <a:r>
              <a:rPr lang="en-IN" dirty="0"/>
              <a:t>Graphic Era Hill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9457" y="609600"/>
            <a:ext cx="8034528" cy="2401824"/>
          </a:xfrm>
        </p:spPr>
        <p:txBody>
          <a:bodyPr>
            <a:normAutofit fontScale="90000"/>
          </a:bodyPr>
          <a:lstStyle/>
          <a:p>
            <a:r>
              <a:rPr lang="en-US" dirty="0"/>
              <a:t>The Healthcare Problem Is Growing</a:t>
            </a:r>
            <a:br>
              <a:rPr lang="en-US" dirty="0"/>
            </a:br>
            <a:br>
              <a:rPr lang="en-US" dirty="0"/>
            </a:br>
            <a:r>
              <a:rPr lang="en-US" dirty="0">
                <a:solidFill>
                  <a:schemeClr val="tx1"/>
                </a:solidFill>
              </a:rPr>
              <a:t>Early diagnosis is critical, yet millions still lack access to timely and safe healthcare solutions.</a:t>
            </a:r>
            <a:endParaRPr dirty="0">
              <a:solidFill>
                <a:schemeClr val="tx1"/>
              </a:solidFill>
            </a:endParaRPr>
          </a:p>
        </p:txBody>
      </p:sp>
      <p:sp>
        <p:nvSpPr>
          <p:cNvPr id="3" name="Content Placeholder 2"/>
          <p:cNvSpPr>
            <a:spLocks noGrp="1"/>
          </p:cNvSpPr>
          <p:nvPr>
            <p:ph idx="1"/>
          </p:nvPr>
        </p:nvSpPr>
        <p:spPr>
          <a:xfrm>
            <a:off x="341377" y="3429000"/>
            <a:ext cx="3450337" cy="2054793"/>
          </a:xfrm>
        </p:spPr>
        <p:txBody>
          <a:bodyPr>
            <a:normAutofit/>
          </a:bodyPr>
          <a:lstStyle/>
          <a:p>
            <a:r>
              <a:rPr lang="en-US" b="1" dirty="0">
                <a:solidFill>
                  <a:schemeClr val="accent1">
                    <a:lumMod val="75000"/>
                  </a:schemeClr>
                </a:solidFill>
              </a:rPr>
              <a:t>Delayed Diagnosis</a:t>
            </a:r>
          </a:p>
          <a:p>
            <a:pPr marL="0" indent="0">
              <a:buNone/>
            </a:pPr>
            <a:r>
              <a:rPr lang="en-US" dirty="0"/>
              <a:t>Many patients rely on self-medication or late consultations,</a:t>
            </a:r>
            <a:br>
              <a:rPr lang="en-US" dirty="0"/>
            </a:br>
            <a:r>
              <a:rPr lang="en-US" dirty="0"/>
              <a:t>leading to incorrect treatment and worsening conditions.</a:t>
            </a:r>
          </a:p>
          <a:p>
            <a:pPr marL="0" indent="0">
              <a:buNone/>
            </a:pPr>
            <a:endParaRPr dirty="0"/>
          </a:p>
        </p:txBody>
      </p:sp>
      <p:sp>
        <p:nvSpPr>
          <p:cNvPr id="4" name="Content Placeholder 2">
            <a:extLst>
              <a:ext uri="{FF2B5EF4-FFF2-40B4-BE49-F238E27FC236}">
                <a16:creationId xmlns:a16="http://schemas.microsoft.com/office/drawing/2014/main" id="{9ACF87AC-C304-DD6D-CC0A-350AB0B26464}"/>
              </a:ext>
            </a:extLst>
          </p:cNvPr>
          <p:cNvSpPr txBox="1">
            <a:spLocks/>
          </p:cNvSpPr>
          <p:nvPr/>
        </p:nvSpPr>
        <p:spPr>
          <a:xfrm>
            <a:off x="4572000" y="3517061"/>
            <a:ext cx="3450337" cy="2054793"/>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IN" dirty="0">
                <a:solidFill>
                  <a:schemeClr val="accent1">
                    <a:lumMod val="75000"/>
                  </a:schemeClr>
                </a:solidFill>
              </a:rPr>
              <a:t>No Intelligent Support System</a:t>
            </a:r>
          </a:p>
          <a:p>
            <a:pPr marL="0" indent="0">
              <a:buNone/>
            </a:pPr>
            <a:r>
              <a:rPr lang="en-US" dirty="0"/>
              <a:t>Existing systems do not provide real-time disease prediction</a:t>
            </a:r>
            <a:br>
              <a:rPr lang="en-US" dirty="0"/>
            </a:br>
            <a:r>
              <a:rPr lang="en-US" dirty="0"/>
              <a:t>or personalized healthcare recommendations based on symptoms.</a:t>
            </a:r>
          </a:p>
          <a:p>
            <a:pPr marL="0" indent="0">
              <a:buFont typeface="Wingdings 3" charset="2"/>
              <a:buNone/>
            </a:pPr>
            <a:endParaRPr lang="en-US" dirty="0"/>
          </a:p>
        </p:txBody>
      </p:sp>
      <p:sp>
        <p:nvSpPr>
          <p:cNvPr id="5" name="Content Placeholder 2">
            <a:extLst>
              <a:ext uri="{FF2B5EF4-FFF2-40B4-BE49-F238E27FC236}">
                <a16:creationId xmlns:a16="http://schemas.microsoft.com/office/drawing/2014/main" id="{3C0A5B55-BDAA-3334-95D9-BA56D853019B}"/>
              </a:ext>
            </a:extLst>
          </p:cNvPr>
          <p:cNvSpPr txBox="1">
            <a:spLocks/>
          </p:cNvSpPr>
          <p:nvPr/>
        </p:nvSpPr>
        <p:spPr>
          <a:xfrm>
            <a:off x="822963" y="5659915"/>
            <a:ext cx="6864095" cy="1423637"/>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IN" dirty="0">
                <a:solidFill>
                  <a:schemeClr val="accent1">
                    <a:lumMod val="75000"/>
                  </a:schemeClr>
                </a:solidFill>
              </a:rPr>
              <a:t>Unsafe Medication Is Common</a:t>
            </a:r>
          </a:p>
          <a:p>
            <a:pPr marL="0" indent="0" algn="ctr">
              <a:buNone/>
            </a:pPr>
            <a:r>
              <a:rPr lang="en-US" dirty="0"/>
              <a:t>Lack of awareness about drug interactions can lead to</a:t>
            </a:r>
            <a:br>
              <a:rPr lang="en-US" dirty="0"/>
            </a:br>
            <a:r>
              <a:rPr lang="en-US" dirty="0"/>
              <a:t>harmful or even life-threatening consequences.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36576"/>
            <a:ext cx="6347713" cy="853440"/>
          </a:xfrm>
        </p:spPr>
        <p:txBody>
          <a:bodyPr/>
          <a:lstStyle/>
          <a:p>
            <a:r>
              <a:rPr lang="en-US" dirty="0"/>
              <a:t>Our Objective </a:t>
            </a:r>
            <a:endParaRPr dirty="0"/>
          </a:p>
        </p:txBody>
      </p:sp>
      <p:sp>
        <p:nvSpPr>
          <p:cNvPr id="3" name="Content Placeholder 2"/>
          <p:cNvSpPr>
            <a:spLocks noGrp="1"/>
          </p:cNvSpPr>
          <p:nvPr>
            <p:ph idx="1"/>
          </p:nvPr>
        </p:nvSpPr>
        <p:spPr>
          <a:xfrm>
            <a:off x="609599" y="890016"/>
            <a:ext cx="6347714" cy="5815584"/>
          </a:xfrm>
        </p:spPr>
        <p:txBody>
          <a:bodyPr>
            <a:noAutofit/>
          </a:bodyPr>
          <a:lstStyle/>
          <a:p>
            <a:r>
              <a:rPr lang="en-US" sz="2000" dirty="0">
                <a:latin typeface="Times New Roman" panose="02020603050405020304" pitchFamily="18" charset="0"/>
                <a:cs typeface="Times New Roman" panose="02020603050405020304" pitchFamily="18" charset="0"/>
              </a:rPr>
              <a:t>The Smart Healthcare System aims to build a seamless, AI-driven pipeline that predicts diseases from symptoms and ensures safe medication — in real time, using an accessible and user-friendly interface.</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1400" b="1" dirty="0"/>
              <a:t>1) Capture Symptoms</a:t>
            </a:r>
          </a:p>
          <a:p>
            <a:pPr marL="0" indent="0">
              <a:buNone/>
            </a:pPr>
            <a:r>
              <a:rPr lang="en-US" sz="1400" dirty="0"/>
              <a:t>Collect and process user-input symptoms through an intuitive interface.</a:t>
            </a:r>
          </a:p>
          <a:p>
            <a:pPr marL="0" indent="0">
              <a:buNone/>
            </a:pPr>
            <a:r>
              <a:rPr lang="en-US" sz="1400" b="1" dirty="0"/>
              <a:t>2) Predict Disease</a:t>
            </a:r>
          </a:p>
          <a:p>
            <a:pPr marL="0" indent="0">
              <a:buNone/>
            </a:pPr>
            <a:r>
              <a:rPr lang="en-US" sz="1400" dirty="0"/>
              <a:t>Analyze symptoms using machine learning models to identify the most probable disease with high accuracy.</a:t>
            </a:r>
          </a:p>
          <a:p>
            <a:pPr marL="0" indent="0">
              <a:buNone/>
            </a:pPr>
            <a:r>
              <a:rPr lang="en-US" sz="1400" b="1" dirty="0"/>
              <a:t>3) Recommend Medicines</a:t>
            </a:r>
          </a:p>
          <a:p>
            <a:pPr marL="0" indent="0">
              <a:buNone/>
            </a:pPr>
            <a:r>
              <a:rPr lang="en-US" sz="1400" dirty="0"/>
              <a:t>Suggest important and relevant medicines based on the predicted disease.</a:t>
            </a:r>
          </a:p>
          <a:p>
            <a:pPr marL="0" indent="0">
              <a:buNone/>
            </a:pPr>
            <a:r>
              <a:rPr lang="en-US" sz="1400" b="1" dirty="0"/>
              <a:t>4) Check Drug Safety</a:t>
            </a:r>
          </a:p>
          <a:p>
            <a:pPr marL="0" indent="0">
              <a:buNone/>
            </a:pPr>
            <a:r>
              <a:rPr lang="en-US" sz="1400" dirty="0"/>
              <a:t>Detect harmful drug interactions using existing medication data to ensure safe treatment.</a:t>
            </a:r>
          </a:p>
          <a:p>
            <a:pPr marL="0" indent="0">
              <a:buNone/>
            </a:pPr>
            <a:r>
              <a:rPr lang="en-US" sz="1400" b="1" dirty="0"/>
              <a:t>5) Provide Advice &amp; Store History</a:t>
            </a:r>
          </a:p>
          <a:p>
            <a:pPr marL="0" indent="0">
              <a:buNone/>
            </a:pPr>
            <a:r>
              <a:rPr lang="en-US" sz="1400" dirty="0"/>
              <a:t>Offer precautionary advice and store user history for personalized healthcare support.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Working Pipeline</a:t>
            </a:r>
            <a:br>
              <a:rPr lang="en-US" b="1" dirty="0"/>
            </a:br>
            <a:br>
              <a:rPr lang="en-US" b="1" dirty="0"/>
            </a:br>
            <a:r>
              <a:rPr lang="en-US" sz="1600" dirty="0">
                <a:solidFill>
                  <a:schemeClr val="tx1"/>
                </a:solidFill>
                <a:latin typeface="Times New Roman" panose="02020603050405020304" pitchFamily="18" charset="0"/>
                <a:cs typeface="Times New Roman" panose="02020603050405020304" pitchFamily="18" charset="0"/>
              </a:rPr>
              <a:t>A real-time AI-powered healthcare system that analyzes user symptoms and provides disease prediction, medicine recommendation, and safety checks through sequential stages.</a:t>
            </a:r>
            <a:br>
              <a:rPr lang="en-US" sz="1600" dirty="0">
                <a:solidFill>
                  <a:schemeClr val="tx1"/>
                </a:solidFill>
                <a:latin typeface="Times New Roman" panose="02020603050405020304" pitchFamily="18" charset="0"/>
                <a:cs typeface="Times New Roman" panose="02020603050405020304" pitchFamily="18" charset="0"/>
              </a:rPr>
            </a:br>
            <a:endParaRPr sz="1600"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599" y="2477582"/>
            <a:ext cx="6347714" cy="3880773"/>
          </a:xfrm>
        </p:spPr>
        <p:txBody>
          <a:bodyPr>
            <a:normAutofit fontScale="62500" lnSpcReduction="20000"/>
          </a:bodyPr>
          <a:lstStyle/>
          <a:p>
            <a:pPr marL="0" indent="0">
              <a:buNone/>
            </a:pPr>
            <a:r>
              <a:rPr lang="en-US" sz="2000" b="1" dirty="0"/>
              <a:t>01. Input Symptoms</a:t>
            </a:r>
          </a:p>
          <a:p>
            <a:pPr marL="0" indent="0">
              <a:buNone/>
            </a:pPr>
            <a:r>
              <a:rPr lang="en-US" sz="2000" dirty="0"/>
              <a:t>User selects symptoms through an interactive interface.</a:t>
            </a:r>
          </a:p>
          <a:p>
            <a:pPr marL="0" indent="0">
              <a:buNone/>
            </a:pPr>
            <a:r>
              <a:rPr lang="en-US" sz="2000" b="1" dirty="0"/>
              <a:t>02. Data Processing</a:t>
            </a:r>
          </a:p>
          <a:p>
            <a:pPr marL="0" indent="0">
              <a:buNone/>
            </a:pPr>
            <a:r>
              <a:rPr lang="en-US" sz="2000" dirty="0"/>
              <a:t>Symptoms are cleaned, normalized, and converted into a machine-readable format.</a:t>
            </a:r>
          </a:p>
          <a:p>
            <a:pPr marL="0" indent="0">
              <a:buNone/>
            </a:pPr>
            <a:r>
              <a:rPr lang="en-US" sz="2000" b="1" dirty="0"/>
              <a:t>03. Feature Mapping</a:t>
            </a:r>
          </a:p>
          <a:p>
            <a:pPr marL="0" indent="0">
              <a:buNone/>
            </a:pPr>
            <a:r>
              <a:rPr lang="en-US" sz="2000" dirty="0"/>
              <a:t>Symptoms are mapped with severity weights to create a structured input vector.</a:t>
            </a:r>
          </a:p>
          <a:p>
            <a:pPr marL="0" indent="0">
              <a:buNone/>
            </a:pPr>
            <a:r>
              <a:rPr lang="en-US" sz="2000" b="1" dirty="0"/>
              <a:t>04. Disease Prediction</a:t>
            </a:r>
          </a:p>
          <a:p>
            <a:pPr marL="0" indent="0">
              <a:buNone/>
            </a:pPr>
            <a:r>
              <a:rPr lang="en-US" sz="2000" dirty="0"/>
              <a:t>Machine learning model analyzes the input and predicts the most probable disease.</a:t>
            </a:r>
          </a:p>
          <a:p>
            <a:pPr marL="0" indent="0">
              <a:buNone/>
            </a:pPr>
            <a:r>
              <a:rPr lang="en-US" sz="2000" b="1" dirty="0"/>
              <a:t>05. Medicine Recommendation</a:t>
            </a:r>
          </a:p>
          <a:p>
            <a:pPr marL="0" indent="0">
              <a:buNone/>
            </a:pPr>
            <a:r>
              <a:rPr lang="en-US" sz="2000" dirty="0"/>
              <a:t>Relevant and important medicines are suggested based on prediction.</a:t>
            </a:r>
          </a:p>
          <a:p>
            <a:pPr marL="0" indent="0">
              <a:buNone/>
            </a:pPr>
            <a:r>
              <a:rPr lang="en-US" sz="2000" b="1" dirty="0"/>
              <a:t>06. Drug Safety &amp; Advice</a:t>
            </a:r>
          </a:p>
          <a:p>
            <a:pPr marL="0" indent="0">
              <a:buNone/>
            </a:pPr>
            <a:r>
              <a:rPr lang="en-US" sz="2000" dirty="0"/>
              <a:t>System checks drug interactions and provides precautions and health advice.</a:t>
            </a:r>
          </a:p>
          <a:p>
            <a:pPr marL="0" indent="0">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BE5F802-E85B-2681-B70A-57AD108ED0A9}"/>
              </a:ext>
            </a:extLst>
          </p:cNvPr>
          <p:cNvPicPr>
            <a:picLocks noGrp="1" noChangeAspect="1"/>
          </p:cNvPicPr>
          <p:nvPr>
            <p:ph idx="1"/>
          </p:nvPr>
        </p:nvPicPr>
        <p:blipFill>
          <a:blip r:embed="rId2"/>
          <a:stretch>
            <a:fillRect/>
          </a:stretch>
        </p:blipFill>
        <p:spPr>
          <a:xfrm>
            <a:off x="1" y="0"/>
            <a:ext cx="9144000" cy="6858000"/>
          </a:xfrm>
          <a:prstGeom prst="rect">
            <a:avLst/>
          </a:prstGeom>
        </p:spPr>
      </p:pic>
    </p:spTree>
    <p:extLst>
      <p:ext uri="{BB962C8B-B14F-4D97-AF65-F5344CB8AC3E}">
        <p14:creationId xmlns:p14="http://schemas.microsoft.com/office/powerpoint/2010/main" val="5918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7559041" cy="1320800"/>
          </a:xfrm>
        </p:spPr>
        <p:txBody>
          <a:bodyPr>
            <a:normAutofit fontScale="90000"/>
          </a:bodyPr>
          <a:lstStyle/>
          <a:p>
            <a:r>
              <a:rPr lang="en-IN" dirty="0"/>
              <a:t>Technologies Powering AI/ML Healthcare Management And Prediction System</a:t>
            </a:r>
            <a:endParaRPr dirty="0"/>
          </a:p>
        </p:txBody>
      </p:sp>
      <p:sp>
        <p:nvSpPr>
          <p:cNvPr id="3" name="Content Placeholder 2"/>
          <p:cNvSpPr>
            <a:spLocks noGrp="1"/>
          </p:cNvSpPr>
          <p:nvPr>
            <p:ph idx="1"/>
          </p:nvPr>
        </p:nvSpPr>
        <p:spPr>
          <a:xfrm>
            <a:off x="609599" y="1828800"/>
            <a:ext cx="6347714" cy="4212563"/>
          </a:xfrm>
        </p:spPr>
        <p:txBody>
          <a:bodyPr>
            <a:noAutofit/>
          </a:bodyPr>
          <a:lstStyle/>
          <a:p>
            <a:pPr marL="0" indent="0">
              <a:buNone/>
            </a:pPr>
            <a:r>
              <a:rPr lang="en-US" sz="1200" b="1" dirty="0"/>
              <a:t>1. Python</a:t>
            </a:r>
          </a:p>
          <a:p>
            <a:pPr marL="0" indent="0">
              <a:buNone/>
            </a:pPr>
            <a:r>
              <a:rPr lang="en-US" sz="1200" dirty="0"/>
              <a:t>Core programming language used for model development, data processing, and system integration.</a:t>
            </a:r>
          </a:p>
          <a:p>
            <a:pPr marL="0" indent="0">
              <a:buNone/>
            </a:pPr>
            <a:r>
              <a:rPr lang="en-US" sz="1200" b="1" dirty="0"/>
              <a:t>2. </a:t>
            </a:r>
            <a:r>
              <a:rPr lang="en-US" sz="1200" b="1" dirty="0" err="1"/>
              <a:t>Streamlit</a:t>
            </a:r>
            <a:endParaRPr lang="en-US" sz="1200" b="1" dirty="0"/>
          </a:p>
          <a:p>
            <a:pPr marL="0" indent="0">
              <a:buNone/>
            </a:pPr>
            <a:r>
              <a:rPr lang="en-US" sz="1200" dirty="0"/>
              <a:t>Used to build an interactive and user-friendly web interface for real-time symptom input and prediction.</a:t>
            </a:r>
          </a:p>
          <a:p>
            <a:pPr marL="0" indent="0">
              <a:buNone/>
            </a:pPr>
            <a:br>
              <a:rPr lang="en-US" sz="1200" dirty="0"/>
            </a:br>
            <a:r>
              <a:rPr lang="en-US" sz="1200" b="1" dirty="0"/>
              <a:t>3. Pandas &amp; NumPy</a:t>
            </a:r>
          </a:p>
          <a:p>
            <a:pPr marL="0" indent="0">
              <a:buNone/>
            </a:pPr>
            <a:r>
              <a:rPr lang="en-US" sz="1200" dirty="0"/>
              <a:t>Libraries used for data handling, preprocessing, and numerical computations.</a:t>
            </a:r>
          </a:p>
          <a:p>
            <a:pPr marL="0" indent="0">
              <a:buNone/>
            </a:pPr>
            <a:r>
              <a:rPr lang="en-US" sz="1200" b="1" dirty="0"/>
              <a:t>4. Machine Learning (Scikit-learn)</a:t>
            </a:r>
          </a:p>
          <a:p>
            <a:pPr marL="0" indent="0">
              <a:buNone/>
            </a:pPr>
            <a:r>
              <a:rPr lang="en-US" sz="1200" dirty="0"/>
              <a:t>Implements models like Naive Bayes, Logistic Regression, and SVM for disease prediction.</a:t>
            </a:r>
            <a:br>
              <a:rPr lang="en-US" sz="1200" dirty="0"/>
            </a:br>
            <a:endParaRPr lang="en-US" sz="1200" dirty="0"/>
          </a:p>
          <a:p>
            <a:pPr marL="0" indent="0">
              <a:buNone/>
            </a:pPr>
            <a:r>
              <a:rPr lang="en-US" sz="1200" b="1" dirty="0"/>
              <a:t>5. SQLite / MySQL</a:t>
            </a:r>
          </a:p>
          <a:p>
            <a:pPr marL="0" indent="0">
              <a:buNone/>
            </a:pPr>
            <a:r>
              <a:rPr lang="en-US" sz="1200" dirty="0"/>
              <a:t>Database system used to store user data, feedback, and prediction history.</a:t>
            </a:r>
          </a:p>
          <a:p>
            <a:pPr marL="0" indent="0">
              <a:buNone/>
            </a:pPr>
            <a:r>
              <a:rPr lang="en-US" sz="1200" b="1" dirty="0"/>
              <a:t>6. </a:t>
            </a:r>
            <a:r>
              <a:rPr lang="en-US" sz="1200" b="1" dirty="0" err="1"/>
              <a:t>Joblib</a:t>
            </a:r>
            <a:endParaRPr lang="en-US" sz="1200" b="1" dirty="0"/>
          </a:p>
          <a:p>
            <a:pPr marL="0" indent="0">
              <a:buNone/>
            </a:pPr>
            <a:r>
              <a:rPr lang="en-US" sz="1200" dirty="0"/>
              <a:t>Used for saving and loading trained machine learning models efficiently.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7615" y="156237"/>
            <a:ext cx="7668769" cy="1320800"/>
          </a:xfrm>
        </p:spPr>
        <p:txBody>
          <a:bodyPr/>
          <a:lstStyle/>
          <a:p>
            <a:r>
              <a:rPr lang="en-US" dirty="0"/>
              <a:t>Methodology: From Data to Deployment </a:t>
            </a:r>
            <a:endParaRPr lang="en-IN" dirty="0"/>
          </a:p>
        </p:txBody>
      </p:sp>
      <p:sp>
        <p:nvSpPr>
          <p:cNvPr id="3" name="Content Placeholder 2"/>
          <p:cNvSpPr>
            <a:spLocks noGrp="1"/>
          </p:cNvSpPr>
          <p:nvPr>
            <p:ph idx="1"/>
          </p:nvPr>
        </p:nvSpPr>
        <p:spPr>
          <a:xfrm>
            <a:off x="609599" y="1477037"/>
            <a:ext cx="6347714" cy="5224725"/>
          </a:xfrm>
        </p:spPr>
        <p:txBody>
          <a:bodyPr>
            <a:normAutofit fontScale="70000" lnSpcReduction="20000"/>
          </a:bodyPr>
          <a:lstStyle/>
          <a:p>
            <a:pPr marL="0" indent="0">
              <a:buNone/>
            </a:pPr>
            <a:r>
              <a:rPr lang="en-US" sz="2200" b="1" dirty="0"/>
              <a:t>1. Data Collection</a:t>
            </a:r>
          </a:p>
          <a:p>
            <a:pPr marL="0" indent="0">
              <a:buNone/>
            </a:pPr>
            <a:r>
              <a:rPr lang="en-US" sz="2200" dirty="0"/>
              <a:t>Collected datasets containing symptoms, diseases, medicines, and drug interactions from reliable sources.</a:t>
            </a:r>
            <a:br>
              <a:rPr lang="en-US" sz="2200" dirty="0"/>
            </a:br>
            <a:endParaRPr lang="en-US" sz="2200" dirty="0"/>
          </a:p>
          <a:p>
            <a:pPr marL="0" indent="0">
              <a:buNone/>
            </a:pPr>
            <a:r>
              <a:rPr lang="en-US" sz="2200" b="1" dirty="0"/>
              <a:t>2. Data Preprocessing</a:t>
            </a:r>
          </a:p>
          <a:p>
            <a:pPr marL="0" indent="0">
              <a:buNone/>
            </a:pPr>
            <a:r>
              <a:rPr lang="en-US" sz="2200" dirty="0"/>
              <a:t>Cleaned, normalized, and transformed symptom data into structured format for machine learning models.</a:t>
            </a:r>
          </a:p>
          <a:p>
            <a:pPr marL="0" indent="0">
              <a:buNone/>
            </a:pPr>
            <a:br>
              <a:rPr lang="en-US" sz="2200" dirty="0"/>
            </a:br>
            <a:r>
              <a:rPr lang="en-US" sz="2200" b="1" dirty="0"/>
              <a:t>3. Feature Engineering</a:t>
            </a:r>
          </a:p>
          <a:p>
            <a:pPr marL="0" indent="0">
              <a:buNone/>
            </a:pPr>
            <a:r>
              <a:rPr lang="en-US" sz="2200" dirty="0"/>
              <a:t>Mapped symptoms with severity weights and created feature vectors for accurate prediction.</a:t>
            </a:r>
            <a:br>
              <a:rPr lang="en-US" sz="2200" dirty="0"/>
            </a:br>
            <a:endParaRPr lang="en-US" sz="2200" dirty="0"/>
          </a:p>
          <a:p>
            <a:pPr marL="0" indent="0">
              <a:buNone/>
            </a:pPr>
            <a:r>
              <a:rPr lang="en-US" sz="2200" b="1" dirty="0"/>
              <a:t>4. Model Training</a:t>
            </a:r>
          </a:p>
          <a:p>
            <a:pPr marL="0" indent="0">
              <a:buNone/>
            </a:pPr>
            <a:r>
              <a:rPr lang="en-US" sz="2200" dirty="0"/>
              <a:t>Trained multiple machine learning models such as Naive Bayes, Logistic Regression, and SVM for disease classification.</a:t>
            </a:r>
            <a:br>
              <a:rPr lang="en-US" sz="2200" dirty="0"/>
            </a:br>
            <a:endParaRPr lang="en-US" sz="2200" dirty="0"/>
          </a:p>
          <a:p>
            <a:pPr marL="0" indent="0">
              <a:buNone/>
            </a:pPr>
            <a:r>
              <a:rPr lang="en-US" sz="2200" b="1" dirty="0"/>
              <a:t>5. Real-Time Prediction &amp; Deployment</a:t>
            </a:r>
          </a:p>
          <a:p>
            <a:pPr marL="0" indent="0">
              <a:buNone/>
            </a:pPr>
            <a:r>
              <a:rPr lang="en-US" sz="2200" dirty="0"/>
              <a:t>Deployed the trained model using </a:t>
            </a:r>
            <a:r>
              <a:rPr lang="en-US" sz="2200" dirty="0" err="1"/>
              <a:t>Streamlit</a:t>
            </a:r>
            <a:r>
              <a:rPr lang="en-US" sz="2200" dirty="0"/>
              <a:t> for real-time disease prediction, medicine recommendation, and drug safety checks.</a:t>
            </a:r>
          </a:p>
          <a:p>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620257" cy="1320800"/>
          </a:xfrm>
        </p:spPr>
        <p:txBody>
          <a:bodyPr>
            <a:normAutofit fontScale="90000"/>
          </a:bodyPr>
          <a:lstStyle/>
          <a:p>
            <a:r>
              <a:rPr lang="en-US" b="1" dirty="0"/>
              <a:t>Why Machine Learning? The Intelligence Behind the System</a:t>
            </a:r>
            <a:endParaRPr dirty="0"/>
          </a:p>
        </p:txBody>
      </p:sp>
      <p:sp>
        <p:nvSpPr>
          <p:cNvPr id="3" name="Content Placeholder 2"/>
          <p:cNvSpPr>
            <a:spLocks noGrp="1"/>
          </p:cNvSpPr>
          <p:nvPr>
            <p:ph idx="1"/>
          </p:nvPr>
        </p:nvSpPr>
        <p:spPr>
          <a:xfrm>
            <a:off x="609598" y="1930400"/>
            <a:ext cx="6949441" cy="4763008"/>
          </a:xfrm>
        </p:spPr>
        <p:txBody>
          <a:bodyPr/>
          <a:lstStyle/>
          <a:p>
            <a:r>
              <a:rPr lang="en-US" b="1" dirty="0"/>
              <a:t>Machine Learning Models (Naive Bayes &amp; Others)</a:t>
            </a:r>
          </a:p>
          <a:p>
            <a:pPr marL="0" indent="0">
              <a:buNone/>
            </a:pPr>
            <a:r>
              <a:rPr lang="en-US" dirty="0"/>
              <a:t>Unlike traditional rule-based systems, machine learning models can learn patterns from data — making them ideal for disease prediction where symptoms vary in importance.</a:t>
            </a:r>
          </a:p>
          <a:p>
            <a:pPr marL="0" indent="0">
              <a:buNone/>
            </a:pPr>
            <a:endParaRPr lang="en-US" dirty="0"/>
          </a:p>
          <a:p>
            <a:r>
              <a:rPr lang="en-US" dirty="0"/>
              <a:t>Understand relationships between multiple symptoms </a:t>
            </a:r>
          </a:p>
          <a:p>
            <a:r>
              <a:rPr lang="en-US" dirty="0"/>
              <a:t>Handle uncertainty and incomplete inputs </a:t>
            </a:r>
          </a:p>
          <a:p>
            <a:r>
              <a:rPr lang="en-US" dirty="0"/>
              <a:t>Provide probabilistic predictions (confidence-based) </a:t>
            </a:r>
          </a:p>
          <a:p>
            <a:r>
              <a:rPr lang="en-US" dirty="0"/>
              <a:t>Reduce misdiagnosis by learning from real datasets </a:t>
            </a:r>
          </a:p>
          <a:p>
            <a:r>
              <a:rPr lang="en-US" dirty="0"/>
              <a:t>Deliver high accuracy with fast prediction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13F31-A903-149B-8C69-9C5825764116}"/>
              </a:ext>
            </a:extLst>
          </p:cNvPr>
          <p:cNvSpPr>
            <a:spLocks noGrp="1"/>
          </p:cNvSpPr>
          <p:nvPr>
            <p:ph type="title"/>
          </p:nvPr>
        </p:nvSpPr>
        <p:spPr/>
        <p:txBody>
          <a:bodyPr>
            <a:normAutofit fontScale="90000"/>
          </a:bodyPr>
          <a:lstStyle/>
          <a:p>
            <a:r>
              <a:rPr lang="en-US" b="1" dirty="0"/>
              <a:t>Algorithms Used: The Intelligence Behind Prediction</a:t>
            </a:r>
            <a:endParaRPr lang="en-IN" dirty="0"/>
          </a:p>
        </p:txBody>
      </p:sp>
      <p:sp>
        <p:nvSpPr>
          <p:cNvPr id="3" name="Content Placeholder 2">
            <a:extLst>
              <a:ext uri="{FF2B5EF4-FFF2-40B4-BE49-F238E27FC236}">
                <a16:creationId xmlns:a16="http://schemas.microsoft.com/office/drawing/2014/main" id="{DC9FA094-986E-0137-64A5-99C64B01C247}"/>
              </a:ext>
            </a:extLst>
          </p:cNvPr>
          <p:cNvSpPr>
            <a:spLocks noGrp="1"/>
          </p:cNvSpPr>
          <p:nvPr>
            <p:ph idx="1"/>
          </p:nvPr>
        </p:nvSpPr>
        <p:spPr>
          <a:xfrm>
            <a:off x="609598" y="1804416"/>
            <a:ext cx="6912865" cy="4596384"/>
          </a:xfrm>
        </p:spPr>
        <p:txBody>
          <a:bodyPr>
            <a:normAutofit/>
          </a:bodyPr>
          <a:lstStyle/>
          <a:p>
            <a:pPr marL="0" indent="0">
              <a:buNone/>
            </a:pPr>
            <a:r>
              <a:rPr lang="en-IN" b="1" dirty="0"/>
              <a:t>Naive Bayes (Primary Model)</a:t>
            </a:r>
          </a:p>
          <a:p>
            <a:pPr marL="0" indent="0">
              <a:buNone/>
            </a:pPr>
            <a:r>
              <a:rPr lang="en-IN" dirty="0"/>
              <a:t>Fast and efficient probabilistic model used for disease prediction.</a:t>
            </a:r>
          </a:p>
          <a:p>
            <a:pPr marL="0" indent="0">
              <a:buNone/>
            </a:pPr>
            <a:r>
              <a:rPr lang="en-IN" b="1" dirty="0"/>
              <a:t>Logistic Regression</a:t>
            </a:r>
          </a:p>
          <a:p>
            <a:pPr marL="0" indent="0">
              <a:buNone/>
            </a:pPr>
            <a:r>
              <a:rPr lang="en-IN" dirty="0"/>
              <a:t>Used for classification and comparison with other models.</a:t>
            </a:r>
          </a:p>
          <a:p>
            <a:pPr marL="0" indent="0">
              <a:buNone/>
            </a:pPr>
            <a:r>
              <a:rPr lang="en-IN" b="1" dirty="0"/>
              <a:t>Support Vector Machine (SVM)</a:t>
            </a:r>
          </a:p>
          <a:p>
            <a:pPr marL="0" indent="0">
              <a:buNone/>
            </a:pPr>
            <a:r>
              <a:rPr lang="en-IN" dirty="0"/>
              <a:t>Handles complex data patterns and improves prediction accuracy.</a:t>
            </a:r>
          </a:p>
          <a:p>
            <a:pPr marL="0" indent="0">
              <a:buNone/>
            </a:pPr>
            <a:r>
              <a:rPr lang="en-IN" b="1" dirty="0"/>
              <a:t>Decision Tree &amp; Random Forest</a:t>
            </a:r>
          </a:p>
          <a:p>
            <a:pPr marL="0" indent="0">
              <a:buNone/>
            </a:pPr>
            <a:r>
              <a:rPr lang="en-IN" dirty="0"/>
              <a:t>Used for performance comparison and robustness analysis.</a:t>
            </a:r>
            <a:br>
              <a:rPr lang="en-IN" dirty="0"/>
            </a:br>
            <a:endParaRPr lang="en-IN" dirty="0"/>
          </a:p>
          <a:p>
            <a:r>
              <a:rPr lang="en-IN" dirty="0"/>
              <a:t>👉 </a:t>
            </a:r>
            <a:r>
              <a:rPr lang="en-IN" b="1" dirty="0"/>
              <a:t>Naive Bayes selected for best performance and speed</a:t>
            </a:r>
            <a:endParaRPr lang="en-IN" dirty="0"/>
          </a:p>
          <a:p>
            <a:endParaRPr lang="en-IN" dirty="0"/>
          </a:p>
        </p:txBody>
      </p:sp>
    </p:spTree>
    <p:extLst>
      <p:ext uri="{BB962C8B-B14F-4D97-AF65-F5344CB8AC3E}">
        <p14:creationId xmlns:p14="http://schemas.microsoft.com/office/powerpoint/2010/main" val="259599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6AA11-9247-06F2-61B5-79B2B6AEAE97}"/>
              </a:ext>
            </a:extLst>
          </p:cNvPr>
          <p:cNvSpPr>
            <a:spLocks noGrp="1"/>
          </p:cNvSpPr>
          <p:nvPr>
            <p:ph type="title"/>
          </p:nvPr>
        </p:nvSpPr>
        <p:spPr>
          <a:xfrm>
            <a:off x="609599" y="609600"/>
            <a:ext cx="6912865" cy="1320800"/>
          </a:xfrm>
        </p:spPr>
        <p:txBody>
          <a:bodyPr/>
          <a:lstStyle/>
          <a:p>
            <a:r>
              <a:rPr lang="en-IN" dirty="0"/>
              <a:t>Applications &amp; The Road Ahead</a:t>
            </a:r>
          </a:p>
        </p:txBody>
      </p:sp>
      <p:sp>
        <p:nvSpPr>
          <p:cNvPr id="3" name="Content Placeholder 2">
            <a:extLst>
              <a:ext uri="{FF2B5EF4-FFF2-40B4-BE49-F238E27FC236}">
                <a16:creationId xmlns:a16="http://schemas.microsoft.com/office/drawing/2014/main" id="{F931288B-FEE3-676D-6957-D71A2FF1DB32}"/>
              </a:ext>
            </a:extLst>
          </p:cNvPr>
          <p:cNvSpPr>
            <a:spLocks noGrp="1"/>
          </p:cNvSpPr>
          <p:nvPr>
            <p:ph idx="1"/>
          </p:nvPr>
        </p:nvSpPr>
        <p:spPr>
          <a:xfrm>
            <a:off x="609598" y="1658112"/>
            <a:ext cx="7022594" cy="4962144"/>
          </a:xfrm>
        </p:spPr>
        <p:txBody>
          <a:bodyPr>
            <a:normAutofit fontScale="85000" lnSpcReduction="10000"/>
          </a:bodyPr>
          <a:lstStyle/>
          <a:p>
            <a:pPr marL="0" indent="0">
              <a:buNone/>
            </a:pPr>
            <a:r>
              <a:rPr lang="en-US" b="1" dirty="0"/>
              <a:t>🏥 Healthcare</a:t>
            </a:r>
          </a:p>
          <a:p>
            <a:pPr marL="0" indent="0">
              <a:buNone/>
            </a:pPr>
            <a:r>
              <a:rPr lang="en-US" dirty="0"/>
              <a:t>Helps users get early disease prediction and safe medication recommendations without immediate doctor consultation.</a:t>
            </a:r>
          </a:p>
          <a:p>
            <a:pPr marL="0" indent="0">
              <a:buNone/>
            </a:pPr>
            <a:r>
              <a:rPr lang="en-US" b="1" dirty="0"/>
              <a:t>🌍 Rural Areas</a:t>
            </a:r>
          </a:p>
          <a:p>
            <a:pPr marL="0" indent="0">
              <a:buNone/>
            </a:pPr>
            <a:r>
              <a:rPr lang="en-US" dirty="0"/>
              <a:t>Provides accessible healthcare support in areas with limited medical facilities.</a:t>
            </a:r>
          </a:p>
          <a:p>
            <a:pPr marL="0" indent="0">
              <a:buNone/>
            </a:pPr>
            <a:r>
              <a:rPr lang="en-US" b="1" dirty="0"/>
              <a:t>💻 Personal Health Monitoring</a:t>
            </a:r>
          </a:p>
          <a:p>
            <a:pPr marL="0" indent="0">
              <a:buNone/>
            </a:pPr>
            <a:r>
              <a:rPr lang="en-US" dirty="0"/>
              <a:t>Allows users to track symptoms, history, and receive personalized health advice.</a:t>
            </a:r>
            <a:br>
              <a:rPr lang="en-US" dirty="0"/>
            </a:br>
            <a:endParaRPr lang="en-US" dirty="0"/>
          </a:p>
          <a:p>
            <a:pPr marL="0" indent="0">
              <a:buNone/>
            </a:pPr>
            <a:r>
              <a:rPr lang="en-US" b="1" dirty="0"/>
              <a:t>🚀 What’s Next</a:t>
            </a:r>
          </a:p>
          <a:p>
            <a:pPr marL="0" indent="0">
              <a:buNone/>
            </a:pPr>
            <a:r>
              <a:rPr lang="en-US" b="1" dirty="0"/>
              <a:t> Mobile Application</a:t>
            </a:r>
          </a:p>
          <a:p>
            <a:pPr marL="0" indent="0">
              <a:buNone/>
            </a:pPr>
            <a:r>
              <a:rPr lang="en-US" dirty="0"/>
              <a:t>Deploy the system on smartphones for easy, on-the-go healthcare assistance</a:t>
            </a:r>
          </a:p>
          <a:p>
            <a:pPr marL="0" indent="0">
              <a:buNone/>
            </a:pPr>
            <a:r>
              <a:rPr lang="en-US" b="1" dirty="0"/>
              <a:t> Real-Time Health Data Integration</a:t>
            </a:r>
          </a:p>
          <a:p>
            <a:pPr marL="0" indent="0">
              <a:buNone/>
            </a:pPr>
            <a:r>
              <a:rPr lang="en-US" dirty="0"/>
              <a:t>Integrate wearable devices for continuous health monitoring and prediction.</a:t>
            </a:r>
          </a:p>
          <a:p>
            <a:pPr marL="0" indent="0">
              <a:buNone/>
            </a:pPr>
            <a:r>
              <a:rPr lang="en-US" b="1" dirty="0"/>
              <a:t> Advanced AI Models</a:t>
            </a:r>
          </a:p>
          <a:p>
            <a:pPr marL="0" indent="0">
              <a:buNone/>
            </a:pPr>
            <a:r>
              <a:rPr lang="en-US" dirty="0"/>
              <a:t>Use deep learning for more accurate and complex disease prediction.</a:t>
            </a:r>
          </a:p>
          <a:p>
            <a:endParaRPr lang="en-IN" dirty="0"/>
          </a:p>
        </p:txBody>
      </p:sp>
    </p:spTree>
    <p:extLst>
      <p:ext uri="{BB962C8B-B14F-4D97-AF65-F5344CB8AC3E}">
        <p14:creationId xmlns:p14="http://schemas.microsoft.com/office/powerpoint/2010/main" val="2168634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553FE-CA74-FB85-0C81-4F81171BA897}"/>
              </a:ext>
            </a:extLst>
          </p:cNvPr>
          <p:cNvSpPr>
            <a:spLocks noGrp="1"/>
          </p:cNvSpPr>
          <p:nvPr>
            <p:ph type="title"/>
          </p:nvPr>
        </p:nvSpPr>
        <p:spPr/>
        <p:txBody>
          <a:bodyPr>
            <a:normAutofit fontScale="90000"/>
          </a:bodyPr>
          <a:lstStyle/>
          <a:p>
            <a:r>
              <a:rPr lang="en-US" b="1" dirty="0"/>
              <a:t>Conclusion: AI as a Healthcare Bridge</a:t>
            </a:r>
            <a:br>
              <a:rPr lang="en-US" b="1" dirty="0"/>
            </a:br>
            <a:r>
              <a:rPr lang="en-US" sz="1600" dirty="0">
                <a:solidFill>
                  <a:schemeClr val="tx1"/>
                </a:solidFill>
              </a:rPr>
              <a:t>Smart Healthcare System demonstrates how AI can be a powerful tool for improving early diagnosis and ensuring safe medication. By predicting diseases from symptoms and checking drug interactions in real time, the system reduces risks and supports better healthcare decisions.</a:t>
            </a:r>
            <a:br>
              <a:rPr lang="en-US" dirty="0">
                <a:solidFill>
                  <a:schemeClr val="tx1"/>
                </a:solidFill>
              </a:rPr>
            </a:br>
            <a:endParaRPr lang="en-IN" dirty="0">
              <a:solidFill>
                <a:schemeClr val="tx1"/>
              </a:solidFill>
            </a:endParaRPr>
          </a:p>
        </p:txBody>
      </p:sp>
      <p:sp>
        <p:nvSpPr>
          <p:cNvPr id="3" name="Content Placeholder 2">
            <a:extLst>
              <a:ext uri="{FF2B5EF4-FFF2-40B4-BE49-F238E27FC236}">
                <a16:creationId xmlns:a16="http://schemas.microsoft.com/office/drawing/2014/main" id="{9E5AFEE5-9D0B-6BD0-B526-CA551AACC093}"/>
              </a:ext>
            </a:extLst>
          </p:cNvPr>
          <p:cNvSpPr>
            <a:spLocks noGrp="1"/>
          </p:cNvSpPr>
          <p:nvPr>
            <p:ph idx="1"/>
          </p:nvPr>
        </p:nvSpPr>
        <p:spPr>
          <a:xfrm>
            <a:off x="609598" y="2599502"/>
            <a:ext cx="6347714" cy="4258498"/>
          </a:xfrm>
        </p:spPr>
        <p:txBody>
          <a:bodyPr>
            <a:normAutofit fontScale="92500" lnSpcReduction="10000"/>
          </a:bodyPr>
          <a:lstStyle/>
          <a:p>
            <a:pPr marL="0" indent="0">
              <a:buNone/>
            </a:pPr>
            <a:r>
              <a:rPr lang="en-US" b="1" dirty="0">
                <a:solidFill>
                  <a:schemeClr val="accent1"/>
                </a:solidFill>
              </a:rPr>
              <a:t>Built</a:t>
            </a:r>
          </a:p>
          <a:p>
            <a:pPr marL="0" indent="0">
              <a:buNone/>
            </a:pPr>
            <a:r>
              <a:rPr lang="en-US" dirty="0"/>
              <a:t>A complete AI-based disease prediction system using machine learning models, integrated with medicine recommendation and drug interaction detection.</a:t>
            </a:r>
            <a:br>
              <a:rPr lang="en-US" dirty="0"/>
            </a:br>
            <a:endParaRPr lang="en-US" dirty="0"/>
          </a:p>
          <a:p>
            <a:pPr marL="0" indent="0">
              <a:buNone/>
            </a:pPr>
            <a:r>
              <a:rPr lang="en-US" b="1" dirty="0">
                <a:solidFill>
                  <a:schemeClr val="accent1"/>
                </a:solidFill>
              </a:rPr>
              <a:t>Impact</a:t>
            </a:r>
          </a:p>
          <a:p>
            <a:pPr marL="0" indent="0">
              <a:buNone/>
            </a:pPr>
            <a:r>
              <a:rPr lang="en-US" dirty="0"/>
              <a:t>Enables early diagnosis ,reduces risk of harmful medication ,improves healthcare accessibility ,supports users in making informed decisions </a:t>
            </a:r>
            <a:br>
              <a:rPr lang="en-US" dirty="0"/>
            </a:br>
            <a:endParaRPr lang="en-US" dirty="0"/>
          </a:p>
          <a:p>
            <a:pPr marL="0" indent="0">
              <a:buNone/>
            </a:pPr>
            <a:r>
              <a:rPr lang="en-US" b="1" dirty="0">
                <a:solidFill>
                  <a:schemeClr val="accent1"/>
                </a:solidFill>
              </a:rPr>
              <a:t>Potential</a:t>
            </a:r>
          </a:p>
          <a:p>
            <a:pPr marL="0" indent="0">
              <a:buNone/>
            </a:pPr>
            <a:r>
              <a:rPr lang="en-US" dirty="0"/>
              <a:t>Scalable to mobile platforms ,integration with real-time health data (wearables) ,advanced AI models for higher accuracy ,personalized healthcare recommendations </a:t>
            </a:r>
          </a:p>
          <a:p>
            <a:endParaRPr lang="en-IN" dirty="0"/>
          </a:p>
        </p:txBody>
      </p:sp>
    </p:spTree>
    <p:extLst>
      <p:ext uri="{BB962C8B-B14F-4D97-AF65-F5344CB8AC3E}">
        <p14:creationId xmlns:p14="http://schemas.microsoft.com/office/powerpoint/2010/main" val="61020172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170</TotalTime>
  <Words>970</Words>
  <Application>Microsoft Office PowerPoint</Application>
  <PresentationFormat>On-screen Show (4:3)</PresentationFormat>
  <Paragraphs>105</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Times New Roman</vt:lpstr>
      <vt:lpstr>Trebuchet MS</vt:lpstr>
      <vt:lpstr>Wingdings 3</vt:lpstr>
      <vt:lpstr>Facet</vt:lpstr>
      <vt:lpstr>AI/ML Healthcare System And Prediction System  </vt:lpstr>
      <vt:lpstr>The Healthcare Problem Is Growing  Early diagnosis is critical, yet millions still lack access to timely and safe healthcare solutions.</vt:lpstr>
      <vt:lpstr>Our Objective </vt:lpstr>
      <vt:lpstr>Working Pipeline  A real-time AI-powered healthcare system that analyzes user symptoms and provides disease prediction, medicine recommendation, and safety checks through sequential stages. </vt:lpstr>
      <vt:lpstr>PowerPoint Presentation</vt:lpstr>
      <vt:lpstr>Technologies Powering AI/ML Healthcare Management And Prediction System</vt:lpstr>
      <vt:lpstr>Methodology: From Data to Deployment </vt:lpstr>
      <vt:lpstr>Why Machine Learning? The Intelligence Behind the System</vt:lpstr>
      <vt:lpstr>Algorithms Used: The Intelligence Behind Prediction</vt:lpstr>
      <vt:lpstr>Applications &amp; The Road Ahead</vt:lpstr>
      <vt:lpstr>Conclusion: AI as a Healthcare Bridge Smart Healthcare System demonstrates how AI can be a powerful tool for improving early diagnosis and ensuring safe medication. By predicting diseases from symptoms and checking drug interactions in real time, the system reduces risks and supports better healthcare decisions.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kyrie 11</dc:creator>
  <cp:keywords/>
  <dc:description>generated using python-pptx</dc:description>
  <cp:lastModifiedBy>kyrie 11</cp:lastModifiedBy>
  <cp:revision>2</cp:revision>
  <dcterms:created xsi:type="dcterms:W3CDTF">2013-01-27T09:14:16Z</dcterms:created>
  <dcterms:modified xsi:type="dcterms:W3CDTF">2026-05-04T02:08:39Z</dcterms:modified>
  <cp:category/>
</cp:coreProperties>
</file>